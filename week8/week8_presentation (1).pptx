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5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4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185893" y="9165842"/>
            <a:ext cx="914399" cy="914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0624" y="425607"/>
            <a:ext cx="6726750" cy="101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0" i="0">
                <a:solidFill>
                  <a:srgbClr val="0E294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00824" y="1649903"/>
            <a:ext cx="14387194" cy="6931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1">
                <a:solidFill>
                  <a:srgbClr val="EC4937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66843" y="9165842"/>
            <a:ext cx="914399" cy="914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3370" y="2657222"/>
            <a:ext cx="11296649" cy="24860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84277" y="5270194"/>
            <a:ext cx="251968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65" dirty="0"/>
              <a:t>Week</a:t>
            </a:r>
            <a:r>
              <a:rPr sz="6550" spc="-1100" dirty="0"/>
              <a:t> </a:t>
            </a:r>
            <a:r>
              <a:rPr lang="en-US" sz="6550" spc="-600" dirty="0"/>
              <a:t>8</a:t>
            </a:r>
            <a:endParaRPr sz="6550" dirty="0"/>
          </a:p>
        </p:txBody>
      </p:sp>
      <p:sp>
        <p:nvSpPr>
          <p:cNvPr id="5" name="object 5"/>
          <p:cNvSpPr txBox="1"/>
          <p:nvPr/>
        </p:nvSpPr>
        <p:spPr>
          <a:xfrm>
            <a:off x="17561080" y="296909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409" dirty="0">
                <a:solidFill>
                  <a:srgbClr val="0E2944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6424" y="1801546"/>
            <a:ext cx="95123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45" dirty="0">
                <a:latin typeface="Tahoma"/>
                <a:cs typeface="Tahoma"/>
              </a:rPr>
              <a:t>Sr.</a:t>
            </a:r>
            <a:r>
              <a:rPr sz="2900" b="1" spc="-365" dirty="0">
                <a:latin typeface="Tahoma"/>
                <a:cs typeface="Tahoma"/>
              </a:rPr>
              <a:t> </a:t>
            </a:r>
            <a:r>
              <a:rPr sz="2900" b="1" spc="-140" dirty="0">
                <a:latin typeface="Tahoma"/>
                <a:cs typeface="Tahoma"/>
              </a:rPr>
              <a:t>no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15" dirty="0">
                <a:latin typeface="Tahoma"/>
                <a:cs typeface="Tahoma"/>
              </a:rPr>
              <a:t>1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2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3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20" dirty="0">
                <a:latin typeface="Tahoma"/>
                <a:cs typeface="Tahoma"/>
              </a:rPr>
              <a:t>4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7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50" dirty="0">
                <a:latin typeface="Tahoma"/>
                <a:cs typeface="Tahoma"/>
              </a:rPr>
              <a:t>5</a:t>
            </a:r>
            <a:endParaRPr sz="29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161180" y="1801546"/>
            <a:ext cx="3314700" cy="7205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90"/>
              </a:lnSpc>
            </a:pPr>
            <a:r>
              <a:rPr sz="2900" b="1" spc="-10" dirty="0">
                <a:latin typeface="Tahoma"/>
                <a:cs typeface="Tahoma"/>
              </a:rPr>
              <a:t>Contents</a:t>
            </a:r>
            <a:endParaRPr sz="2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010"/>
              </a:spcBef>
            </a:pPr>
            <a:endParaRPr sz="2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900" b="1" spc="-145" dirty="0">
                <a:latin typeface="Tahoma"/>
                <a:cs typeface="Tahoma"/>
              </a:rPr>
              <a:t>Week1Sketch1</a:t>
            </a:r>
            <a:endParaRPr sz="2900">
              <a:latin typeface="Tahoma"/>
              <a:cs typeface="Tahoma"/>
            </a:endParaRPr>
          </a:p>
          <a:p>
            <a:pPr indent="-635" algn="ctr">
              <a:lnSpc>
                <a:spcPct val="330100"/>
              </a:lnSpc>
              <a:spcBef>
                <a:spcPts val="25"/>
              </a:spcBef>
            </a:pPr>
            <a:r>
              <a:rPr sz="2900" b="1" spc="-110" dirty="0">
                <a:latin typeface="Tahoma"/>
                <a:cs typeface="Tahoma"/>
              </a:rPr>
              <a:t>Week1Sketch2 </a:t>
            </a:r>
            <a:r>
              <a:rPr sz="2900" b="1" spc="-190" dirty="0">
                <a:latin typeface="Tahoma"/>
                <a:cs typeface="Tahoma"/>
              </a:rPr>
              <a:t>Week1Assignment1</a:t>
            </a:r>
            <a:endParaRPr sz="2900">
              <a:latin typeface="Tahoma"/>
              <a:cs typeface="Tahoma"/>
            </a:endParaRPr>
          </a:p>
          <a:p>
            <a:pPr algn="ctr">
              <a:lnSpc>
                <a:spcPct val="297400"/>
              </a:lnSpc>
              <a:spcBef>
                <a:spcPts val="540"/>
              </a:spcBef>
            </a:pPr>
            <a:r>
              <a:rPr sz="2900" b="1" spc="-190" dirty="0">
                <a:latin typeface="Tahoma"/>
                <a:cs typeface="Tahoma"/>
              </a:rPr>
              <a:t>Week1Assignment2 </a:t>
            </a:r>
            <a:r>
              <a:rPr sz="2900" b="1" spc="-105" dirty="0">
                <a:latin typeface="Tahoma"/>
                <a:cs typeface="Tahoma"/>
              </a:rPr>
              <a:t>Insights</a:t>
            </a:r>
            <a:endParaRPr sz="29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534164"/>
              </p:ext>
            </p:extLst>
          </p:nvPr>
        </p:nvGraphicFramePr>
        <p:xfrm>
          <a:off x="3592827" y="1629647"/>
          <a:ext cx="11092180" cy="7163435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8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Sr no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300" dirty="0">
                          <a:latin typeface="Times New Roman"/>
                          <a:cs typeface="Times New Roman"/>
                        </a:rPr>
                        <a:t>index</a:t>
                      </a:r>
                      <a:endParaRPr sz="5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1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5700" dirty="0">
                          <a:latin typeface="Times New Roman"/>
                          <a:cs typeface="Times New Roman"/>
                        </a:rPr>
                        <a:t>1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5700" dirty="0">
                          <a:latin typeface="Times New Roman"/>
                          <a:cs typeface="Times New Roman"/>
                        </a:rPr>
                        <a:t>Piston head </a:t>
                      </a:r>
                      <a:r>
                        <a:rPr lang="en-US" sz="5700" dirty="0" err="1">
                          <a:latin typeface="Times New Roman"/>
                          <a:cs typeface="Times New Roman"/>
                        </a:rPr>
                        <a:t>assemmbly</a:t>
                      </a: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13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180285" y="49006"/>
            <a:ext cx="192786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50" spc="-330" dirty="0"/>
              <a:t>I</a:t>
            </a:r>
            <a:r>
              <a:rPr sz="6550" spc="-265" dirty="0"/>
              <a:t>n</a:t>
            </a:r>
            <a:r>
              <a:rPr sz="6550" spc="-250" dirty="0"/>
              <a:t>d</a:t>
            </a:r>
            <a:r>
              <a:rPr sz="6550" spc="-270" dirty="0"/>
              <a:t>e</a:t>
            </a:r>
            <a:r>
              <a:rPr sz="6550" spc="204" dirty="0"/>
              <a:t>x</a:t>
            </a:r>
            <a:endParaRPr sz="6550"/>
          </a:p>
        </p:txBody>
      </p:sp>
      <p:sp>
        <p:nvSpPr>
          <p:cNvPr id="6" name="object 6"/>
          <p:cNvSpPr txBox="1"/>
          <p:nvPr/>
        </p:nvSpPr>
        <p:spPr>
          <a:xfrm>
            <a:off x="17542476" y="296909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0E2944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8ABC-7EF8-401A-BF53-06C17655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1" y="142646"/>
            <a:ext cx="6726750" cy="3031599"/>
          </a:xfrm>
        </p:spPr>
        <p:txBody>
          <a:bodyPr/>
          <a:lstStyle/>
          <a:p>
            <a:pPr algn="ctr"/>
            <a:r>
              <a:rPr lang="en-IN" sz="6600" spc="-310" dirty="0">
                <a:latin typeface="Times New Roman"/>
                <a:cs typeface="Times New Roman"/>
              </a:rPr>
              <a:t>Different parts</a:t>
            </a:r>
            <a:br>
              <a:rPr lang="en-IN" sz="6600" spc="-310" dirty="0">
                <a:latin typeface="Times New Roman"/>
                <a:cs typeface="Times New Roman"/>
              </a:rPr>
            </a:br>
            <a:br>
              <a:rPr lang="en-IN" sz="6600" dirty="0">
                <a:latin typeface="Times New Roman"/>
                <a:cs typeface="Times New Roman"/>
              </a:rPr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834D86-B52F-48FD-8B03-149F31D89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24" y="1628242"/>
            <a:ext cx="5105400" cy="76401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861300-64FF-457C-BBC6-E3C5FE512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587" y="1537907"/>
            <a:ext cx="3570824" cy="32726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8E2494-4A85-4176-8FF4-E4D1157FB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1383545"/>
            <a:ext cx="3654324" cy="3581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D34A17-6E47-4CFC-9FA2-313D1AE261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575" y="5448300"/>
            <a:ext cx="3924848" cy="41844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CB4C35-62F6-4E97-BEF9-5528C4C66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200" y="5315972"/>
            <a:ext cx="4601217" cy="44491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7D678B-84E0-45F3-A3EC-39BA1C9F9755}"/>
              </a:ext>
            </a:extLst>
          </p:cNvPr>
          <p:cNvSpPr txBox="1"/>
          <p:nvPr/>
        </p:nvSpPr>
        <p:spPr>
          <a:xfrm>
            <a:off x="1932057" y="9309627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Master Sketch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01387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CE5E-E7C5-4876-BF00-FBAA5D02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Finale Assembly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6D7E7-5C0B-4BCD-918A-32CDEC7A1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714500"/>
            <a:ext cx="13335000" cy="785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609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A1AB3-A1CF-42A6-95FB-4AF34C03F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342900"/>
            <a:ext cx="6726750" cy="1016000"/>
          </a:xfrm>
        </p:spPr>
        <p:txBody>
          <a:bodyPr/>
          <a:lstStyle/>
          <a:p>
            <a:r>
              <a:rPr lang="en-US" dirty="0"/>
              <a:t>Insights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BB9205-D314-4CDB-8CDC-B08006DDA037}"/>
              </a:ext>
            </a:extLst>
          </p:cNvPr>
          <p:cNvSpPr txBox="1"/>
          <p:nvPr/>
        </p:nvSpPr>
        <p:spPr>
          <a:xfrm>
            <a:off x="1066800" y="2242353"/>
            <a:ext cx="1653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44248-FB30-4D3E-BAEE-2AA807BF0BA6}"/>
              </a:ext>
            </a:extLst>
          </p:cNvPr>
          <p:cNvSpPr txBox="1"/>
          <p:nvPr/>
        </p:nvSpPr>
        <p:spPr>
          <a:xfrm>
            <a:off x="748748" y="1714500"/>
            <a:ext cx="160782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 learned how to create the entire assembly using a Binder Master Sketch in a single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 understood how a master sketch ensures better design coordination and consistency among all </a:t>
            </a:r>
            <a:r>
              <a:rPr lang="en-US" sz="3200" dirty="0" err="1"/>
              <a:t>parts.It</a:t>
            </a:r>
            <a:r>
              <a:rPr lang="en-US" sz="3200" dirty="0"/>
              <a:t> made the assembly more organized and reduced errors caused by mismatched dimensions.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604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</TotalTime>
  <Words>83</Words>
  <Application>Microsoft Office PowerPoint</Application>
  <PresentationFormat>Custom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Tahoma</vt:lpstr>
      <vt:lpstr>Times New Roman</vt:lpstr>
      <vt:lpstr>Trebuchet MS</vt:lpstr>
      <vt:lpstr>Verdana</vt:lpstr>
      <vt:lpstr>Office Theme</vt:lpstr>
      <vt:lpstr>Week 8</vt:lpstr>
      <vt:lpstr>Index</vt:lpstr>
      <vt:lpstr>Different parts  </vt:lpstr>
      <vt:lpstr>Finale Assembly</vt:lpstr>
      <vt:lpstr>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ProBUILD - Template</dc:title>
  <dc:creator>Anish Patil</dc:creator>
  <cp:keywords>DAG3R4azbOk,BAFA7nme8DI,0</cp:keywords>
  <cp:lastModifiedBy>Vaishnavi Manwatkar</cp:lastModifiedBy>
  <cp:revision>12</cp:revision>
  <dcterms:created xsi:type="dcterms:W3CDTF">2025-11-02T10:03:24Z</dcterms:created>
  <dcterms:modified xsi:type="dcterms:W3CDTF">2025-11-26T14:35:02Z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2025-11-02T00:00:00Z</vt:filetime>
  </property>
  <property fmtid="{D5CDD505-2E9C-101B-9397-08002B2CF9AE}" pid="5" name="Producer">
    <vt:lpwstr>Canva</vt:lpwstr>
  </property>
</Properties>
</file>